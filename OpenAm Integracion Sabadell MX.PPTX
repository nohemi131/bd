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257" r:id="rId5"/>
    <p:sldId id="274" r:id="rId6"/>
    <p:sldId id="390" r:id="rId7"/>
    <p:sldId id="388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C0"/>
    <a:srgbClr val="47B1D7"/>
    <a:srgbClr val="29B8FF"/>
    <a:srgbClr val="FFC000"/>
    <a:srgbClr val="579DE8"/>
    <a:srgbClr val="479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305" autoAdjust="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9E15A-21B5-43DD-8ABA-A8DAC89C2931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6741D-FF5D-47E3-8710-F73491FD217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9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992188" y="1565275"/>
            <a:ext cx="10202862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/>
        </p:spPr>
        <p:txBody>
          <a:bodyPr/>
          <a:lstStyle/>
          <a:p>
            <a:pPr>
              <a:defRPr/>
            </a:pPr>
            <a:endParaRPr lang="en-US" dirty="0">
              <a:ea typeface="ＭＳ Ｐゴシック" pitchFamily="34" charset="-128"/>
              <a:cs typeface="+mn-cs"/>
            </a:endParaRPr>
          </a:p>
        </p:txBody>
      </p:sp>
      <p:sp>
        <p:nvSpPr>
          <p:cNvPr id="5" name="Line 2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992188" y="4229100"/>
            <a:ext cx="10202862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/>
        </p:spPr>
        <p:txBody>
          <a:bodyPr/>
          <a:lstStyle/>
          <a:p>
            <a:pPr>
              <a:defRPr/>
            </a:pPr>
            <a:endParaRPr lang="en-US" dirty="0">
              <a:ea typeface="ＭＳ Ｐゴシック" pitchFamily="34" charset="-128"/>
              <a:cs typeface="+mn-cs"/>
            </a:endParaRPr>
          </a:p>
        </p:txBody>
      </p:sp>
      <p:grpSp>
        <p:nvGrpSpPr>
          <p:cNvPr id="6" name="Group 20"/>
          <p:cNvGrpSpPr>
            <a:grpSpLocks/>
          </p:cNvGrpSpPr>
          <p:nvPr userDrawn="1"/>
        </p:nvGrpSpPr>
        <p:grpSpPr bwMode="auto">
          <a:xfrm>
            <a:off x="9088438" y="344488"/>
            <a:ext cx="2165350" cy="682625"/>
            <a:chOff x="7559675" y="165539"/>
            <a:chExt cx="2164754" cy="684000"/>
          </a:xfrm>
        </p:grpSpPr>
        <p:pic>
          <p:nvPicPr>
            <p:cNvPr id="7" name="Picture 2" descr="Banco Sabadell"/>
            <p:cNvPicPr>
              <a:picLocks noChangeAspect="1" noChangeArrowheads="1"/>
            </p:cNvPicPr>
            <p:nvPr userDrawn="1"/>
          </p:nvPicPr>
          <p:blipFill>
            <a:blip r:embed="rId4"/>
            <a:srcRect r="34583" b="1852"/>
            <a:stretch>
              <a:fillRect/>
            </a:stretch>
          </p:blipFill>
          <p:spPr bwMode="auto">
            <a:xfrm>
              <a:off x="7559675" y="341312"/>
              <a:ext cx="1495425" cy="420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14" descr="BS.jpg"/>
            <p:cNvPicPr>
              <a:picLocks noChangeAspect="1"/>
            </p:cNvPicPr>
            <p:nvPr userDrawn="1"/>
          </p:nvPicPr>
          <p:blipFill>
            <a:blip r:embed="rId5"/>
            <a:srcRect l="77519"/>
            <a:stretch>
              <a:fillRect/>
            </a:stretch>
          </p:blipFill>
          <p:spPr bwMode="auto">
            <a:xfrm>
              <a:off x="8902700" y="165539"/>
              <a:ext cx="821729" cy="684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81328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882651" y="2289234"/>
            <a:ext cx="10363200" cy="549275"/>
          </a:xfrm>
          <a:prstGeom prst="rect">
            <a:avLst/>
          </a:prstGeom>
        </p:spPr>
        <p:txBody>
          <a:bodyPr lIns="91440" rIns="91440" anchor="t"/>
          <a:lstStyle>
            <a:lvl1pPr>
              <a:defRPr sz="3000">
                <a:solidFill>
                  <a:schemeClr val="accent1"/>
                </a:solidFill>
                <a:ea typeface="ＭＳ Ｐゴシック" pitchFamily="34" charset="-128"/>
                <a:cs typeface="Arial" pitchFamily="34" charset="0"/>
              </a:defRPr>
            </a:lvl1pPr>
          </a:lstStyle>
          <a:p>
            <a:r>
              <a:rPr lang="es-ES" noProof="0" dirty="0"/>
              <a:t>Título: Arial 30 negrita</a:t>
            </a:r>
          </a:p>
        </p:txBody>
      </p:sp>
      <p:sp>
        <p:nvSpPr>
          <p:cNvPr id="781329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80533" y="3075047"/>
            <a:ext cx="10373784" cy="427037"/>
          </a:xfrm>
          <a:prstGeom prst="rect">
            <a:avLst/>
          </a:prstGeom>
        </p:spPr>
        <p:txBody>
          <a:bodyPr lIns="91440" rIns="91440">
            <a:spAutoFit/>
          </a:bodyPr>
          <a:lstStyle>
            <a:lvl1pPr marL="0" indent="0">
              <a:buFontTx/>
              <a:buNone/>
              <a:defRPr sz="2200">
                <a:solidFill>
                  <a:schemeClr val="accent1"/>
                </a:solidFill>
                <a:ea typeface="ＭＳ Ｐゴシック" pitchFamily="34" charset="-128"/>
                <a:cs typeface="Arial" pitchFamily="34" charset="0"/>
              </a:defRPr>
            </a:lvl1pPr>
          </a:lstStyle>
          <a:p>
            <a:r>
              <a:rPr lang="es-ES" noProof="0" dirty="0"/>
              <a:t>Subtítulo, tamaño 22 Arial y Negrita</a:t>
            </a:r>
          </a:p>
        </p:txBody>
      </p:sp>
      <p:sp>
        <p:nvSpPr>
          <p:cNvPr id="9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s-ES_tradnl" dirty="0"/>
              <a:t> </a:t>
            </a:r>
            <a:fld id="{FB9FA6B2-D648-44C8-9E7A-79D52B28D3F7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6543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558802" y="503238"/>
            <a:ext cx="9224433" cy="366712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88435" y="1563688"/>
            <a:ext cx="11374967" cy="45259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10515600" y="6637338"/>
            <a:ext cx="1625600" cy="2587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 dirty="0"/>
              <a:t> </a:t>
            </a:r>
            <a:fld id="{F3C24B0F-30F7-480E-93DB-283725374C44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80963" y="6673850"/>
            <a:ext cx="0" cy="9207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ＭＳ Ｐゴシック"/>
                <a:cs typeface="ＭＳ Ｐゴシック"/>
              </a:defRPr>
            </a:lvl1pPr>
          </a:lstStyle>
          <a:p>
            <a:pPr>
              <a:defRPr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947018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558802" y="503238"/>
            <a:ext cx="9224433" cy="366712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10515600" y="6637338"/>
            <a:ext cx="1625600" cy="2587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 dirty="0"/>
              <a:t> </a:t>
            </a:r>
            <a:fld id="{F3C24B0F-30F7-480E-93DB-283725374C44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80963" y="6673850"/>
            <a:ext cx="0" cy="9207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ＭＳ Ｐゴシック"/>
                <a:cs typeface="ＭＳ Ｐゴシック"/>
              </a:defRPr>
            </a:lvl1pPr>
          </a:lstStyle>
          <a:p>
            <a:pPr>
              <a:defRPr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286375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Line 8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0" y="6650038"/>
            <a:ext cx="12192000" cy="0"/>
          </a:xfrm>
          <a:prstGeom prst="line">
            <a:avLst/>
          </a:prstGeom>
          <a:noFill/>
          <a:ln w="9525">
            <a:solidFill>
              <a:srgbClr val="0099CC"/>
            </a:solidFill>
            <a:round/>
            <a:headEnd/>
            <a:tailEnd/>
          </a:ln>
          <a:extLst/>
        </p:spPr>
        <p:txBody>
          <a:bodyPr lIns="0" tIns="0" rIns="0" bIns="0">
            <a:spAutoFit/>
          </a:bodyPr>
          <a:lstStyle/>
          <a:p>
            <a:pPr>
              <a:defRPr/>
            </a:pPr>
            <a:endParaRPr lang="en-US" dirty="0">
              <a:ea typeface="ＭＳ Ｐゴシック" pitchFamily="34" charset="-128"/>
              <a:cs typeface="+mn-cs"/>
            </a:endParaRPr>
          </a:p>
        </p:txBody>
      </p:sp>
      <p:sp>
        <p:nvSpPr>
          <p:cNvPr id="1032" name="Line 121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0" y="889000"/>
            <a:ext cx="12192000" cy="0"/>
          </a:xfrm>
          <a:prstGeom prst="line">
            <a:avLst/>
          </a:prstGeom>
          <a:noFill/>
          <a:ln w="15875">
            <a:solidFill>
              <a:srgbClr val="0096C8"/>
            </a:solidFill>
            <a:round/>
            <a:headEnd/>
            <a:tailEnd/>
          </a:ln>
          <a:extLst/>
        </p:spPr>
        <p:txBody>
          <a:bodyPr/>
          <a:lstStyle/>
          <a:p>
            <a:pPr>
              <a:defRPr/>
            </a:pPr>
            <a:endParaRPr lang="en-US" dirty="0">
              <a:ea typeface="ＭＳ Ｐゴシック" pitchFamily="34" charset="-128"/>
              <a:cs typeface="+mn-cs"/>
            </a:endParaRPr>
          </a:p>
        </p:txBody>
      </p:sp>
      <p:grpSp>
        <p:nvGrpSpPr>
          <p:cNvPr id="1028" name="Group 20"/>
          <p:cNvGrpSpPr>
            <a:grpSpLocks/>
          </p:cNvGrpSpPr>
          <p:nvPr userDrawn="1"/>
        </p:nvGrpSpPr>
        <p:grpSpPr bwMode="auto">
          <a:xfrm>
            <a:off x="9693275" y="120650"/>
            <a:ext cx="2165350" cy="682625"/>
            <a:chOff x="7559675" y="165539"/>
            <a:chExt cx="2164754" cy="684000"/>
          </a:xfrm>
        </p:grpSpPr>
        <p:pic>
          <p:nvPicPr>
            <p:cNvPr id="1030" name="Picture 2" descr="Banco Sabadell"/>
            <p:cNvPicPr>
              <a:picLocks noChangeAspect="1" noChangeArrowheads="1"/>
            </p:cNvPicPr>
            <p:nvPr userDrawn="1"/>
          </p:nvPicPr>
          <p:blipFill>
            <a:blip r:embed="rId7"/>
            <a:srcRect r="34583" b="1852"/>
            <a:stretch>
              <a:fillRect/>
            </a:stretch>
          </p:blipFill>
          <p:spPr bwMode="auto">
            <a:xfrm>
              <a:off x="7559675" y="341312"/>
              <a:ext cx="1495425" cy="420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31" name="Picture 14" descr="BS.jpg"/>
            <p:cNvPicPr>
              <a:picLocks noChangeAspect="1"/>
            </p:cNvPicPr>
            <p:nvPr userDrawn="1"/>
          </p:nvPicPr>
          <p:blipFill>
            <a:blip r:embed="rId8"/>
            <a:srcRect l="77519"/>
            <a:stretch>
              <a:fillRect/>
            </a:stretch>
          </p:blipFill>
          <p:spPr bwMode="auto">
            <a:xfrm>
              <a:off x="8902700" y="165539"/>
              <a:ext cx="821729" cy="684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8" name="3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0515600" y="6650038"/>
            <a:ext cx="1625600" cy="207962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latin typeface="Arial" charset="0"/>
                <a:ea typeface="ＭＳ Ｐゴシック"/>
                <a:cs typeface="ＭＳ Ｐゴシック"/>
              </a:defRPr>
            </a:lvl1pPr>
          </a:lstStyle>
          <a:p>
            <a:pPr>
              <a:defRPr/>
            </a:pPr>
            <a:r>
              <a:rPr lang="es-ES_tradnl" dirty="0"/>
              <a:t> </a:t>
            </a:r>
            <a:fld id="{DB069D1E-F27D-4C8A-B469-4672D75851EA}" type="slidenum">
              <a:rPr lang="es-ES_tradnl" smtClean="0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1250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99CC"/>
          </a:solidFill>
          <a:latin typeface="+mj-lt"/>
          <a:ea typeface="ＭＳ Ｐゴシック" charset="0"/>
          <a:cs typeface="ＭＳ Ｐゴシック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99CC"/>
          </a:solidFill>
          <a:latin typeface="Arial" pitchFamily="34" charset="0"/>
          <a:ea typeface="ＭＳ Ｐゴシック" charset="0"/>
          <a:cs typeface="ＭＳ Ｐゴシック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99CC"/>
          </a:solidFill>
          <a:latin typeface="Arial" pitchFamily="34" charset="0"/>
          <a:ea typeface="ＭＳ Ｐゴシック" charset="0"/>
          <a:cs typeface="ＭＳ Ｐゴシック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99CC"/>
          </a:solidFill>
          <a:latin typeface="Arial" pitchFamily="34" charset="0"/>
          <a:ea typeface="ＭＳ Ｐゴシック" charset="0"/>
          <a:cs typeface="ＭＳ Ｐゴシック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99CC"/>
          </a:solidFill>
          <a:latin typeface="Arial" pitchFamily="34" charset="0"/>
          <a:ea typeface="ＭＳ Ｐゴシック" charset="0"/>
          <a:cs typeface="ＭＳ Ｐゴシック"/>
        </a:defRPr>
      </a:lvl5pPr>
      <a:lvl6pPr marL="457200" algn="l" rtl="0" fontAlgn="base">
        <a:spcBef>
          <a:spcPct val="0"/>
        </a:spcBef>
        <a:spcAft>
          <a:spcPct val="0"/>
        </a:spcAft>
        <a:defRPr b="1">
          <a:solidFill>
            <a:srgbClr val="0099CC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b="1">
          <a:solidFill>
            <a:srgbClr val="0099CC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b="1">
          <a:solidFill>
            <a:srgbClr val="0099CC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b="1">
          <a:solidFill>
            <a:srgbClr val="0099CC"/>
          </a:solidFill>
          <a:latin typeface="Arial" pitchFamily="34" charset="0"/>
        </a:defRPr>
      </a:lvl9pPr>
    </p:titleStyle>
    <p:bodyStyle>
      <a:lvl1pPr marL="273050" indent="-273050" algn="l" rtl="0" eaLnBrk="0" fontAlgn="base" hangingPunct="0">
        <a:spcBef>
          <a:spcPct val="100000"/>
        </a:spcBef>
        <a:spcAft>
          <a:spcPct val="0"/>
        </a:spcAft>
        <a:buClr>
          <a:schemeClr val="tx1"/>
        </a:buClr>
        <a:buChar char="•"/>
        <a:defRPr sz="1400">
          <a:solidFill>
            <a:schemeClr val="tx1"/>
          </a:solidFill>
          <a:latin typeface="+mn-lt"/>
          <a:ea typeface="ＭＳ Ｐゴシック" charset="0"/>
          <a:cs typeface="ＭＳ Ｐゴシック"/>
        </a:defRPr>
      </a:lvl1pPr>
      <a:lvl2pPr marL="538163" indent="-263525" algn="l" rtl="0" eaLnBrk="0" fontAlgn="base" hangingPunct="0">
        <a:spcBef>
          <a:spcPct val="25000"/>
        </a:spcBef>
        <a:spcAft>
          <a:spcPct val="0"/>
        </a:spcAft>
        <a:buClr>
          <a:schemeClr val="tx1"/>
        </a:buClr>
        <a:buFont typeface="Arial" charset="0"/>
        <a:buChar char="–"/>
        <a:defRPr sz="1200">
          <a:solidFill>
            <a:schemeClr val="tx1"/>
          </a:solidFill>
          <a:latin typeface="+mn-lt"/>
          <a:ea typeface="ＭＳ Ｐゴシック" charset="0"/>
          <a:cs typeface="ＭＳ Ｐゴシック"/>
        </a:defRPr>
      </a:lvl2pPr>
      <a:lvl3pPr marL="811213" indent="-271463" algn="l" rtl="0" eaLnBrk="0" fontAlgn="base" hangingPunct="0">
        <a:spcBef>
          <a:spcPct val="25000"/>
        </a:spcBef>
        <a:spcAft>
          <a:spcPct val="0"/>
        </a:spcAft>
        <a:buClr>
          <a:schemeClr val="tx1"/>
        </a:buClr>
        <a:buChar char="•"/>
        <a:defRPr sz="1000">
          <a:solidFill>
            <a:schemeClr val="tx1"/>
          </a:solidFill>
          <a:latin typeface="+mn-lt"/>
          <a:ea typeface="ＭＳ Ｐゴシック" charset="0"/>
          <a:cs typeface="ＭＳ Ｐゴシック"/>
        </a:defRPr>
      </a:lvl3pPr>
      <a:lvl4pPr marL="1085850" indent="-273050" algn="l" rtl="0" eaLnBrk="0" fontAlgn="base" hangingPunct="0">
        <a:spcBef>
          <a:spcPct val="25000"/>
        </a:spcBef>
        <a:spcAft>
          <a:spcPct val="0"/>
        </a:spcAft>
        <a:buClr>
          <a:schemeClr val="tx1"/>
        </a:buClr>
        <a:buFont typeface="Arial" charset="0"/>
        <a:buChar char="–"/>
        <a:defRPr sz="1000">
          <a:solidFill>
            <a:schemeClr val="tx1"/>
          </a:solidFill>
          <a:latin typeface="+mn-lt"/>
          <a:ea typeface="ＭＳ Ｐゴシック" charset="0"/>
          <a:cs typeface="ＭＳ Ｐゴシック"/>
        </a:defRPr>
      </a:lvl4pPr>
      <a:lvl5pPr marL="1350963" indent="-263525" algn="l" rtl="0" eaLnBrk="0" fontAlgn="base" hangingPunct="0">
        <a:spcBef>
          <a:spcPct val="25000"/>
        </a:spcBef>
        <a:spcAft>
          <a:spcPct val="0"/>
        </a:spcAft>
        <a:buClr>
          <a:schemeClr val="tx1"/>
        </a:buClr>
        <a:buChar char="•"/>
        <a:defRPr sz="1000">
          <a:solidFill>
            <a:schemeClr val="tx1"/>
          </a:solidFill>
          <a:latin typeface="+mn-lt"/>
          <a:ea typeface="ＭＳ Ｐゴシック" charset="0"/>
          <a:cs typeface="ＭＳ Ｐゴシック"/>
        </a:defRPr>
      </a:lvl5pPr>
      <a:lvl6pPr marL="1808163" indent="-263525" algn="l" rtl="0" fontAlgn="base">
        <a:spcBef>
          <a:spcPct val="25000"/>
        </a:spcBef>
        <a:spcAft>
          <a:spcPct val="0"/>
        </a:spcAft>
        <a:buClr>
          <a:schemeClr val="tx1"/>
        </a:buClr>
        <a:buChar char="•"/>
        <a:defRPr sz="1000">
          <a:solidFill>
            <a:schemeClr val="tx1"/>
          </a:solidFill>
          <a:latin typeface="+mn-lt"/>
        </a:defRPr>
      </a:lvl6pPr>
      <a:lvl7pPr marL="2265363" indent="-263525" algn="l" rtl="0" fontAlgn="base">
        <a:spcBef>
          <a:spcPct val="25000"/>
        </a:spcBef>
        <a:spcAft>
          <a:spcPct val="0"/>
        </a:spcAft>
        <a:buClr>
          <a:schemeClr val="tx1"/>
        </a:buClr>
        <a:buChar char="•"/>
        <a:defRPr sz="1000">
          <a:solidFill>
            <a:schemeClr val="tx1"/>
          </a:solidFill>
          <a:latin typeface="+mn-lt"/>
        </a:defRPr>
      </a:lvl7pPr>
      <a:lvl8pPr marL="2722563" indent="-263525" algn="l" rtl="0" fontAlgn="base">
        <a:spcBef>
          <a:spcPct val="25000"/>
        </a:spcBef>
        <a:spcAft>
          <a:spcPct val="0"/>
        </a:spcAft>
        <a:buClr>
          <a:schemeClr val="tx1"/>
        </a:buClr>
        <a:buChar char="•"/>
        <a:defRPr sz="1000">
          <a:solidFill>
            <a:schemeClr val="tx1"/>
          </a:solidFill>
          <a:latin typeface="+mn-lt"/>
        </a:defRPr>
      </a:lvl8pPr>
      <a:lvl9pPr marL="3179763" indent="-263525" algn="l" rtl="0" fontAlgn="base">
        <a:spcBef>
          <a:spcPct val="25000"/>
        </a:spcBef>
        <a:spcAft>
          <a:spcPct val="0"/>
        </a:spcAft>
        <a:buClr>
          <a:schemeClr val="tx1"/>
        </a:buClr>
        <a:buChar char="•"/>
        <a:defRPr sz="1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SupportOpenAMPRO@bancsabadel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 anchor="b"/>
          <a:lstStyle/>
          <a:p>
            <a:r>
              <a:rPr lang="es-ES" dirty="0" err="1"/>
              <a:t>OpenAm</a:t>
            </a:r>
            <a:r>
              <a:rPr lang="es-ES" dirty="0"/>
              <a:t> Integración Sabadell MX</a:t>
            </a:r>
          </a:p>
        </p:txBody>
      </p:sp>
    </p:spTree>
    <p:extLst>
      <p:ext uri="{BB962C8B-B14F-4D97-AF65-F5344CB8AC3E}">
        <p14:creationId xmlns:p14="http://schemas.microsoft.com/office/powerpoint/2010/main" val="3137642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OpenAm</a:t>
            </a:r>
            <a:r>
              <a:rPr lang="es-ES" dirty="0"/>
              <a:t> Integración Sabadell MX</a:t>
            </a:r>
            <a:br>
              <a:rPr lang="es-ES" dirty="0"/>
            </a:br>
            <a:r>
              <a:rPr lang="es-ES" sz="2000" dirty="0">
                <a:solidFill>
                  <a:srgbClr val="8FE2FF">
                    <a:lumMod val="75000"/>
                  </a:srgbClr>
                </a:solidFill>
              </a:rPr>
              <a:t>Puntos a Tratar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516" y="1196976"/>
            <a:ext cx="11374967" cy="366712"/>
          </a:xfrm>
        </p:spPr>
        <p:txBody>
          <a:bodyPr/>
          <a:lstStyle/>
          <a:p>
            <a:pPr algn="just"/>
            <a:r>
              <a:rPr lang="es-ES" dirty="0"/>
              <a:t>El objetivo es delimitar los roles de los participantes con respecto a </a:t>
            </a:r>
            <a:r>
              <a:rPr lang="es-ES" dirty="0" err="1"/>
              <a:t>OpenAm</a:t>
            </a:r>
            <a:r>
              <a:rPr lang="es-ES" dirty="0"/>
              <a:t> e identificar las responsabilidades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dirty="0"/>
              <a:t> </a:t>
            </a:r>
            <a:fld id="{F3C24B0F-30F7-480E-93DB-283725374C44}" type="slidenum">
              <a:rPr lang="es-ES" smtClean="0"/>
              <a:pPr>
                <a:defRPr/>
              </a:pPr>
              <a:t>2</a:t>
            </a:fld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AD56E5AE-D84C-4750-900A-5E0A12ECDB6C}"/>
              </a:ext>
            </a:extLst>
          </p:cNvPr>
          <p:cNvSpPr/>
          <p:nvPr/>
        </p:nvSpPr>
        <p:spPr>
          <a:xfrm>
            <a:off x="715617" y="1563688"/>
            <a:ext cx="1095954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s-ES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indent="-342900">
              <a:buClr>
                <a:prstClr val="black"/>
              </a:buClr>
              <a:buFont typeface="+mj-lt"/>
              <a:buAutoNum type="arabicPeriod"/>
            </a:pPr>
            <a:r>
              <a:rPr lang="es-ES" b="1" dirty="0">
                <a:solidFill>
                  <a:prstClr val="black"/>
                </a:solidFill>
                <a:latin typeface="Times New Roman" panose="02020603050405020304" pitchFamily="18" charset="0"/>
              </a:rPr>
              <a:t>Soporte a Producción </a:t>
            </a:r>
            <a:r>
              <a:rPr lang="es-ES" dirty="0">
                <a:solidFill>
                  <a:prstClr val="black"/>
                </a:solidFill>
                <a:latin typeface="Times New Roman" panose="02020603050405020304" pitchFamily="18" charset="0"/>
              </a:rPr>
              <a:t>(</a:t>
            </a:r>
            <a:r>
              <a:rPr lang="es-ES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Gpe</a:t>
            </a:r>
            <a:r>
              <a:rPr lang="es-ES" dirty="0">
                <a:solidFill>
                  <a:prstClr val="black"/>
                </a:solidFill>
                <a:latin typeface="Times New Roman" panose="02020603050405020304" pitchFamily="18" charset="0"/>
              </a:rPr>
              <a:t>. Osiris Moreno Rivas, </a:t>
            </a:r>
            <a:r>
              <a:rPr lang="es-ES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SupportOpenAMPRO</a:t>
            </a:r>
            <a:r>
              <a:rPr lang="es-ES" dirty="0">
                <a:solidFill>
                  <a:prstClr val="black"/>
                </a:solidFill>
                <a:latin typeface="Times New Roman" panose="02020603050405020304" pitchFamily="18" charset="0"/>
              </a:rPr>
              <a:t>, SS.CC. &lt;SupportOpenAMPRO@bancsabadell.com&gt; ).</a:t>
            </a:r>
          </a:p>
          <a:p>
            <a:pPr marL="342900" indent="-342900">
              <a:buClr>
                <a:prstClr val="black"/>
              </a:buClr>
              <a:buFont typeface="+mj-lt"/>
              <a:buAutoNum type="arabicPeriod"/>
            </a:pPr>
            <a:endParaRPr lang="es-ES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indent="-342900">
              <a:buClr>
                <a:prstClr val="black"/>
              </a:buClr>
              <a:buFont typeface="+mj-lt"/>
              <a:buAutoNum type="arabicPeriod"/>
            </a:pPr>
            <a:r>
              <a:rPr lang="es-ES" b="1" dirty="0">
                <a:solidFill>
                  <a:prstClr val="black"/>
                </a:solidFill>
                <a:latin typeface="Times New Roman" panose="02020603050405020304" pitchFamily="18" charset="0"/>
              </a:rPr>
              <a:t>Gestión administrativa de Usuarios </a:t>
            </a:r>
            <a:r>
              <a:rPr lang="es-ES" dirty="0">
                <a:solidFill>
                  <a:prstClr val="black"/>
                </a:solidFill>
                <a:latin typeface="Times New Roman" panose="02020603050405020304" pitchFamily="18" charset="0"/>
              </a:rPr>
              <a:t>( Sin determinar). 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*Este punto nos tiene bloqueados ya que se requieren creara usuarios para los requerimientos de Capitulo X (contraseña temporal y doble sesión) y el </a:t>
            </a:r>
            <a:r>
              <a:rPr lang="es-ES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Zuul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de Empleados.</a:t>
            </a:r>
          </a:p>
          <a:p>
            <a:pPr marL="342900" indent="-342900">
              <a:buClr>
                <a:prstClr val="black"/>
              </a:buClr>
              <a:buFont typeface="+mj-lt"/>
              <a:buAutoNum type="arabicPeriod"/>
            </a:pPr>
            <a:endParaRPr lang="es-ES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indent="-342900">
              <a:buClr>
                <a:prstClr val="black"/>
              </a:buClr>
              <a:buFont typeface="+mj-lt"/>
              <a:buAutoNum type="arabicPeriod"/>
            </a:pPr>
            <a:r>
              <a:rPr lang="es-ES" b="1" dirty="0">
                <a:solidFill>
                  <a:prstClr val="black"/>
                </a:solidFill>
                <a:latin typeface="Times New Roman" panose="02020603050405020304" pitchFamily="18" charset="0"/>
              </a:rPr>
              <a:t>Análisis y Desarrollos Evolutivos </a:t>
            </a:r>
            <a:r>
              <a:rPr lang="es-ES" dirty="0">
                <a:solidFill>
                  <a:prstClr val="black"/>
                </a:solidFill>
                <a:latin typeface="Times New Roman" panose="02020603050405020304" pitchFamily="18" charset="0"/>
              </a:rPr>
              <a:t>(@</a:t>
            </a:r>
            <a:r>
              <a:rPr lang="es-ES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Team</a:t>
            </a:r>
            <a:r>
              <a:rPr lang="es-ES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s-ES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OpenAM</a:t>
            </a:r>
            <a:r>
              <a:rPr lang="es-ES" dirty="0">
                <a:solidFill>
                  <a:prstClr val="black"/>
                </a:solidFill>
                <a:latin typeface="Times New Roman" panose="02020603050405020304" pitchFamily="18" charset="0"/>
              </a:rPr>
              <a:t> SupportOpenAMPRO, SS.CC. </a:t>
            </a:r>
            <a:r>
              <a:rPr lang="es-ES" smtClean="0">
                <a:solidFill>
                  <a:prstClr val="black"/>
                </a:solidFill>
                <a:latin typeface="Times New Roman" panose="02020603050405020304" pitchFamily="18" charset="0"/>
                <a:hlinkClick r:id="rId2"/>
              </a:rPr>
              <a:t>SupportOpenAMPRO@bancsabadell.com</a:t>
            </a:r>
            <a:r>
              <a:rPr lang="es-ES" smtClean="0">
                <a:solidFill>
                  <a:prstClr val="black"/>
                </a:solidFill>
                <a:latin typeface="Times New Roman" panose="02020603050405020304" pitchFamily="18" charset="0"/>
              </a:rPr>
              <a:t>)</a:t>
            </a:r>
            <a:endParaRPr lang="es-ES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indent="-342900">
              <a:buClr>
                <a:prstClr val="black"/>
              </a:buClr>
              <a:buFont typeface="+mj-lt"/>
              <a:buAutoNum type="arabicPeriod"/>
            </a:pPr>
            <a:endParaRPr lang="es-ES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indent="-342900">
              <a:buClr>
                <a:prstClr val="black"/>
              </a:buClr>
              <a:buFont typeface="+mj-lt"/>
              <a:buAutoNum type="arabicPeriod"/>
            </a:pPr>
            <a:r>
              <a:rPr lang="es-ES" b="1" dirty="0">
                <a:solidFill>
                  <a:prstClr val="black"/>
                </a:solidFill>
                <a:latin typeface="Times New Roman" panose="02020603050405020304" pitchFamily="18" charset="0"/>
              </a:rPr>
              <a:t>Administración Operativa </a:t>
            </a:r>
            <a:r>
              <a:rPr lang="es-ES" dirty="0">
                <a:solidFill>
                  <a:prstClr val="black"/>
                </a:solidFill>
                <a:latin typeface="Times New Roman" panose="02020603050405020304" pitchFamily="18" charset="0"/>
              </a:rPr>
              <a:t>( Sin determinar). </a:t>
            </a:r>
            <a:r>
              <a:rPr lang="es-ES" dirty="0">
                <a:solidFill>
                  <a:srgbClr val="C000C0"/>
                </a:solidFill>
                <a:latin typeface="Times New Roman" panose="02020603050405020304" pitchFamily="18" charset="0"/>
              </a:rPr>
              <a:t>*Este punto se refiere a quien daría soporte a la administración del aplicativo de </a:t>
            </a:r>
            <a:r>
              <a:rPr lang="es-ES" dirty="0" err="1">
                <a:solidFill>
                  <a:srgbClr val="C000C0"/>
                </a:solidFill>
                <a:latin typeface="Times New Roman" panose="02020603050405020304" pitchFamily="18" charset="0"/>
              </a:rPr>
              <a:t>OpenAm</a:t>
            </a:r>
            <a:r>
              <a:rPr lang="es-ES" dirty="0">
                <a:solidFill>
                  <a:srgbClr val="C000C0"/>
                </a:solidFill>
                <a:latin typeface="Times New Roman" panose="02020603050405020304" pitchFamily="18" charset="0"/>
              </a:rPr>
              <a:t> dentro de Sabadell</a:t>
            </a:r>
          </a:p>
          <a:p>
            <a:pPr marL="342900" indent="-342900">
              <a:buClr>
                <a:prstClr val="black"/>
              </a:buClr>
              <a:buFont typeface="+mj-lt"/>
              <a:buAutoNum type="arabicPeriod"/>
            </a:pPr>
            <a:endParaRPr lang="es-ES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indent="-342900">
              <a:buClr>
                <a:prstClr val="black"/>
              </a:buClr>
              <a:buFont typeface="+mj-lt"/>
              <a:buAutoNum type="arabicPeriod"/>
            </a:pPr>
            <a:r>
              <a:rPr lang="es-ES" b="1" dirty="0">
                <a:solidFill>
                  <a:prstClr val="black"/>
                </a:solidFill>
                <a:latin typeface="Times New Roman" panose="02020603050405020304" pitchFamily="18" charset="0"/>
              </a:rPr>
              <a:t>Diseños de Solución / Coordinación de Evolutivos</a:t>
            </a:r>
            <a:r>
              <a:rPr lang="es-ES" dirty="0">
                <a:solidFill>
                  <a:prstClr val="black"/>
                </a:solidFill>
                <a:latin typeface="Times New Roman" panose="02020603050405020304" pitchFamily="18" charset="0"/>
              </a:rPr>
              <a:t>(Arquitectura MX, ‘Ortega Espinoza, Javier' a</a:t>
            </a:r>
            <a:r>
              <a:rPr lang="pt-BR" dirty="0">
                <a:solidFill>
                  <a:prstClr val="black"/>
                </a:solidFill>
                <a:latin typeface="Times New Roman" panose="02020603050405020304" pitchFamily="18" charset="0"/>
              </a:rPr>
              <a:t>rquitectoTecnico_01, SS.CC. &lt;ArquitectoTecnico_01@bancosabadell.mx&gt;</a:t>
            </a:r>
            <a:r>
              <a:rPr lang="es-ES" dirty="0">
                <a:solidFill>
                  <a:prstClr val="black"/>
                </a:solidFill>
                <a:latin typeface="Times New Roman" panose="02020603050405020304" pitchFamily="18" charset="0"/>
              </a:rPr>
              <a:t> )</a:t>
            </a:r>
          </a:p>
          <a:p>
            <a:pPr marL="342900" indent="-342900">
              <a:buClr>
                <a:prstClr val="black"/>
              </a:buClr>
              <a:buFont typeface="+mj-lt"/>
              <a:buAutoNum type="arabicPeriod"/>
            </a:pPr>
            <a:endParaRPr lang="es-ES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64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OpenAm</a:t>
            </a:r>
            <a:r>
              <a:rPr lang="es-ES" dirty="0"/>
              <a:t> Integración Sabadell MX</a:t>
            </a:r>
            <a:br>
              <a:rPr lang="es-ES" dirty="0"/>
            </a:br>
            <a:r>
              <a:rPr lang="es-ES" sz="2000" dirty="0">
                <a:solidFill>
                  <a:srgbClr val="8FE2FF">
                    <a:lumMod val="75000"/>
                  </a:srgbClr>
                </a:solidFill>
              </a:rPr>
              <a:t>Diagrama de Contexto de la Arquitectura de la </a:t>
            </a:r>
            <a:r>
              <a:rPr lang="es-ES" sz="2000" dirty="0" err="1">
                <a:solidFill>
                  <a:srgbClr val="8FE2FF">
                    <a:lumMod val="75000"/>
                  </a:srgbClr>
                </a:solidFill>
              </a:rPr>
              <a:t>Mobapp</a:t>
            </a:r>
            <a:r>
              <a:rPr lang="es-ES" sz="2000" dirty="0">
                <a:solidFill>
                  <a:srgbClr val="8FE2FF">
                    <a:lumMod val="75000"/>
                  </a:srgbClr>
                </a:solidFill>
              </a:rPr>
              <a:t> Particulares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dirty="0"/>
              <a:t> </a:t>
            </a:r>
            <a:fld id="{F3C24B0F-30F7-480E-93DB-283725374C44}" type="slidenum">
              <a:rPr lang="es-ES" smtClean="0"/>
              <a:pPr>
                <a:defRPr/>
              </a:pPr>
              <a:t>3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6709E0D4-E8FA-43F3-8E2A-7FEB08215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221" y="986495"/>
            <a:ext cx="5480988" cy="536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0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Preguntas</a:t>
            </a:r>
            <a:br>
              <a:rPr lang="es-ES" dirty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_tradnl" dirty="0"/>
              <a:t> </a:t>
            </a:r>
            <a:fld id="{F3C24B0F-30F7-480E-93DB-283725374C44}" type="slidenum">
              <a:rPr lang="es-ES_tradnl" smtClean="0"/>
              <a:pPr>
                <a:defRPr/>
              </a:pPr>
              <a:t>4</a:t>
            </a:fld>
            <a:endParaRPr lang="es-ES_tradnl" dirty="0"/>
          </a:p>
        </p:txBody>
      </p:sp>
      <p:pic>
        <p:nvPicPr>
          <p:cNvPr id="22" name="Picture 6" descr="http://www.calmersolutionsforbusiness.com/wp-content/uploads/2013/09/interview-questi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24" y="1508973"/>
            <a:ext cx="6740525" cy="447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5459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TEqlr9VtUeqI2QfUxv7Z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Z0vbLfY0E6rq_wNbZk0f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kfBmfVB4k2wcmsNu9U8M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IedM0ZZvESnICJhYjcyz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TcvWgQkZkGdqlMfESSBg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REgB0M.z06SPfGrIlm4t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TcvWgQkZkGdqlMfESSBg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REgB0M.z06SPfGrIlm4tw"/>
</p:tagLst>
</file>

<file path=ppt/theme/theme1.xml><?xml version="1.0" encoding="utf-8"?>
<a:theme xmlns:a="http://schemas.openxmlformats.org/drawingml/2006/main" name="Plantilla BSabadell">
  <a:themeElements>
    <a:clrScheme name="">
      <a:dk1>
        <a:srgbClr val="000000"/>
      </a:dk1>
      <a:lt1>
        <a:srgbClr val="FFFFFF"/>
      </a:lt1>
      <a:dk2>
        <a:srgbClr val="8FE2FF"/>
      </a:dk2>
      <a:lt2>
        <a:srgbClr val="D5F4FF"/>
      </a:lt2>
      <a:accent1>
        <a:srgbClr val="0099CC"/>
      </a:accent1>
      <a:accent2>
        <a:srgbClr val="006699"/>
      </a:accent2>
      <a:accent3>
        <a:srgbClr val="FFFFFF"/>
      </a:accent3>
      <a:accent4>
        <a:srgbClr val="000000"/>
      </a:accent4>
      <a:accent5>
        <a:srgbClr val="AACAE2"/>
      </a:accent5>
      <a:accent6>
        <a:srgbClr val="005C8A"/>
      </a:accent6>
      <a:hlink>
        <a:srgbClr val="003399"/>
      </a:hlink>
      <a:folHlink>
        <a:srgbClr val="003366"/>
      </a:folHlink>
    </a:clrScheme>
    <a:fontScheme name="Plantilla BSabadel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100000"/>
          </a:spcBef>
          <a:spcAft>
            <a:spcPct val="0"/>
          </a:spcAft>
          <a:buClr>
            <a:schemeClr val="tx1"/>
          </a:buClr>
          <a:buSzTx/>
          <a:buFontTx/>
          <a:buNone/>
          <a:tabLst>
            <a:tab pos="6400800" algn="r"/>
            <a:tab pos="8636000" algn="r"/>
          </a:tabLst>
          <a:defRPr kumimoji="0" lang="es-ES_tradnl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100000"/>
          </a:spcBef>
          <a:spcAft>
            <a:spcPct val="0"/>
          </a:spcAft>
          <a:buClr>
            <a:schemeClr val="tx1"/>
          </a:buClr>
          <a:buSzTx/>
          <a:buFontTx/>
          <a:buNone/>
          <a:tabLst>
            <a:tab pos="6400800" algn="r"/>
            <a:tab pos="8636000" algn="r"/>
          </a:tabLst>
          <a:defRPr kumimoji="0" lang="es-ES_tradnl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eaLnBrk="0" hangingPunct="0">
          <a:defRPr sz="2400" b="1" dirty="0" smtClean="0">
            <a:solidFill>
              <a:schemeClr val="accent2"/>
            </a:solidFill>
            <a:latin typeface="Calibri" pitchFamily="34" charset="0"/>
          </a:defRPr>
        </a:defPPr>
      </a:lstStyle>
    </a:txDef>
  </a:objectDefaults>
  <a:extraClrSchemeLst>
    <a:extraClrScheme>
      <a:clrScheme name="Plantilla BSabadel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BSabadel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BSabadel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BSabadel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BSabadel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BSabadel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BSabadel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BSabadel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BSabadel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BSabadel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BSabadel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BSabadel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antilla BSabadell 13">
        <a:dk1>
          <a:srgbClr val="000000"/>
        </a:dk1>
        <a:lt1>
          <a:srgbClr val="FFFFFF"/>
        </a:lt1>
        <a:dk2>
          <a:srgbClr val="0099CC"/>
        </a:dk2>
        <a:lt2>
          <a:srgbClr val="FFFFFF"/>
        </a:lt2>
        <a:accent1>
          <a:srgbClr val="0099CC"/>
        </a:accent1>
        <a:accent2>
          <a:srgbClr val="8FE2FF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81CDE7"/>
        </a:accent6>
        <a:hlink>
          <a:srgbClr val="DDDDD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BSabadell 14">
        <a:dk1>
          <a:srgbClr val="000000"/>
        </a:dk1>
        <a:lt1>
          <a:srgbClr val="FFFFFF"/>
        </a:lt1>
        <a:dk2>
          <a:srgbClr val="0099CC"/>
        </a:dk2>
        <a:lt2>
          <a:srgbClr val="FFFFFF"/>
        </a:lt2>
        <a:accent1>
          <a:srgbClr val="D5F4FF"/>
        </a:accent1>
        <a:accent2>
          <a:srgbClr val="8FE2FF"/>
        </a:accent2>
        <a:accent3>
          <a:srgbClr val="FFFFFF"/>
        </a:accent3>
        <a:accent4>
          <a:srgbClr val="000000"/>
        </a:accent4>
        <a:accent5>
          <a:srgbClr val="E7F8FF"/>
        </a:accent5>
        <a:accent6>
          <a:srgbClr val="81CDE7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BSabadell 15">
        <a:dk1>
          <a:srgbClr val="000000"/>
        </a:dk1>
        <a:lt1>
          <a:srgbClr val="FFFFFF"/>
        </a:lt1>
        <a:dk2>
          <a:srgbClr val="0099CC"/>
        </a:dk2>
        <a:lt2>
          <a:srgbClr val="0099CC"/>
        </a:lt2>
        <a:accent1>
          <a:srgbClr val="D5F4FF"/>
        </a:accent1>
        <a:accent2>
          <a:srgbClr val="8FE2FF"/>
        </a:accent2>
        <a:accent3>
          <a:srgbClr val="FFFFFF"/>
        </a:accent3>
        <a:accent4>
          <a:srgbClr val="000000"/>
        </a:accent4>
        <a:accent5>
          <a:srgbClr val="E7F8FF"/>
        </a:accent5>
        <a:accent6>
          <a:srgbClr val="81CDE7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antilla BSabadell 16">
        <a:dk1>
          <a:srgbClr val="000000"/>
        </a:dk1>
        <a:lt1>
          <a:srgbClr val="FFFFFF"/>
        </a:lt1>
        <a:dk2>
          <a:srgbClr val="C0C0C0"/>
        </a:dk2>
        <a:lt2>
          <a:srgbClr val="0099CC"/>
        </a:lt2>
        <a:accent1>
          <a:srgbClr val="D5F4FF"/>
        </a:accent1>
        <a:accent2>
          <a:srgbClr val="8FE2FF"/>
        </a:accent2>
        <a:accent3>
          <a:srgbClr val="FFFFFF"/>
        </a:accent3>
        <a:accent4>
          <a:srgbClr val="000000"/>
        </a:accent4>
        <a:accent5>
          <a:srgbClr val="E7F8FF"/>
        </a:accent5>
        <a:accent6>
          <a:srgbClr val="81CDE7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7C03CC38D4DDB468319A47340645C62" ma:contentTypeVersion="8" ma:contentTypeDescription="Crear nuevo documento." ma:contentTypeScope="" ma:versionID="94f113ea2debc4684e7ee8a58e96c3ae">
  <xsd:schema xmlns:xsd="http://www.w3.org/2001/XMLSchema" xmlns:xs="http://www.w3.org/2001/XMLSchema" xmlns:p="http://schemas.microsoft.com/office/2006/metadata/properties" xmlns:ns2="13565b43-79b8-43f4-bda7-eeebc8569761" xmlns:ns3="1b7c69f3-a9cf-40d3-81f9-92e9cd208780" targetNamespace="http://schemas.microsoft.com/office/2006/metadata/properties" ma:root="true" ma:fieldsID="d081d5c59ba535ac849e05fe31e3dcd9" ns2:_="" ns3:_="">
    <xsd:import namespace="13565b43-79b8-43f4-bda7-eeebc8569761"/>
    <xsd:import namespace="1b7c69f3-a9cf-40d3-81f9-92e9cd20878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65b43-79b8-43f4-bda7-eeebc856976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7c69f3-a9cf-40d3-81f9-92e9cd2087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5F83B1A-CDEE-4C0C-9076-E8291D5A32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65b43-79b8-43f4-bda7-eeebc8569761"/>
    <ds:schemaRef ds:uri="1b7c69f3-a9cf-40d3-81f9-92e9cd208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419B4B-7419-4C47-AB88-CD1573467C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B24AA9-6DFC-4D8E-A235-0DCE6CAAE758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purl.org/dc/terms/"/>
    <ds:schemaRef ds:uri="http://purl.org/dc/dcmitype/"/>
    <ds:schemaRef ds:uri="http://www.w3.org/XML/1998/namespace"/>
    <ds:schemaRef ds:uri="13565b43-79b8-43f4-bda7-eeebc8569761"/>
    <ds:schemaRef ds:uri="http://schemas.microsoft.com/office/2006/documentManagement/types"/>
    <ds:schemaRef ds:uri="http://schemas.openxmlformats.org/package/2006/metadata/core-properties"/>
    <ds:schemaRef ds:uri="1b7c69f3-a9cf-40d3-81f9-92e9cd20878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16045</TotalTime>
  <Words>155</Words>
  <Application>Microsoft Office PowerPoint</Application>
  <PresentationFormat>Personalizado</PresentationFormat>
  <Paragraphs>18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Plantilla BSabadell</vt:lpstr>
      <vt:lpstr>OpenAm Integración Sabadell MX</vt:lpstr>
      <vt:lpstr>OpenAm Integración Sabadell MX Puntos a Tratar</vt:lpstr>
      <vt:lpstr>OpenAm Integración Sabadell MX Diagrama de Contexto de la Arquitectura de la Mobapp Particulares</vt:lpstr>
      <vt:lpstr>Preguntas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Luna Pereda, F.</dc:creator>
  <cp:lastModifiedBy>Plantilla</cp:lastModifiedBy>
  <cp:revision>197</cp:revision>
  <dcterms:created xsi:type="dcterms:W3CDTF">2016-11-24T09:03:59Z</dcterms:created>
  <dcterms:modified xsi:type="dcterms:W3CDTF">2019-04-25T17:54:48Z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0x010100A7C03CC38D4DDB468319A47340645C62</vt:lpwstr>
  </property>
</Properties>
</file>